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54d32edf2a44d7" /><Relationship Type="http://schemas.openxmlformats.org/officeDocument/2006/relationships/extended-properties" Target="/docProps/app.xml" Id="R259b6f6d1f18492f" /><Relationship Type="http://schemas.openxmlformats.org/officeDocument/2006/relationships/officeDocument" Target="/ppt/presentation.xml" Id="R0d0ae605d705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0cbdd3bd849fe"/>
  </p:sldMasterIdLst>
  <p:notesMasterIdLst>
    <p:notesMasterId xmlns:r="http://schemas.openxmlformats.org/officeDocument/2006/relationships" r:id="R0b9461f0ef3b475d"/>
  </p:notesMasterIdLst>
  <p:sldIdLst>
    <p:sldId xmlns:r="http://schemas.openxmlformats.org/officeDocument/2006/relationships" id="256" r:id="Rec571d73c0cf4e2b"/>
    <p:sldId xmlns:r="http://schemas.openxmlformats.org/officeDocument/2006/relationships" id="257" r:id="Ra03c3f88ce9b40d9"/>
    <p:sldId xmlns:r="http://schemas.openxmlformats.org/officeDocument/2006/relationships" id="258" r:id="R9182cdda31f1466c"/>
    <p:sldId xmlns:r="http://schemas.openxmlformats.org/officeDocument/2006/relationships" id="259" r:id="R5b05ec502a2a4698"/>
    <p:sldId xmlns:r="http://schemas.openxmlformats.org/officeDocument/2006/relationships" id="260" r:id="R3fb79b39215c453e"/>
    <p:sldId xmlns:r="http://schemas.openxmlformats.org/officeDocument/2006/relationships" id="261" r:id="Rdb54ba333b734843"/>
    <p:sldId xmlns:r="http://schemas.openxmlformats.org/officeDocument/2006/relationships" id="262" r:id="R33c2702ebc0443a9"/>
    <p:sldId xmlns:r="http://schemas.openxmlformats.org/officeDocument/2006/relationships" id="263" r:id="R756aefe8f548412f"/>
    <p:sldId xmlns:r="http://schemas.openxmlformats.org/officeDocument/2006/relationships" id="264" r:id="R73057878f6934d04"/>
    <p:sldId xmlns:r="http://schemas.openxmlformats.org/officeDocument/2006/relationships" id="265" r:id="Rf631a30ff8c040f9"/>
    <p:sldId xmlns:r="http://schemas.openxmlformats.org/officeDocument/2006/relationships" id="266" r:id="Rfc482f0d766e434b"/>
    <p:sldId xmlns:r="http://schemas.openxmlformats.org/officeDocument/2006/relationships" id="267" r:id="R815f5557304b402b"/>
    <p:sldId xmlns:r="http://schemas.openxmlformats.org/officeDocument/2006/relationships" id="268" r:id="R094b4fc96b084e60"/>
    <p:sldId xmlns:r="http://schemas.openxmlformats.org/officeDocument/2006/relationships" id="269" r:id="R096181634aab48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e7ec72b56b46e0" /><Relationship Type="http://schemas.openxmlformats.org/officeDocument/2006/relationships/slideMaster" Target="/ppt/slideMasters/slideMaster1.xml" Id="Rf1f0cbdd3bd849fe" /><Relationship Type="http://schemas.openxmlformats.org/officeDocument/2006/relationships/notesMaster" Target="/ppt/notesMasters/notesMaster1.xml" Id="R0b9461f0ef3b475d" /><Relationship Type="http://schemas.openxmlformats.org/officeDocument/2006/relationships/presProps" Target="/ppt/presProps.xml" Id="Rc6eb57483394457d" /><Relationship Type="http://schemas.openxmlformats.org/officeDocument/2006/relationships/tableStyles" Target="/ppt/tableStyles.xml" Id="R324a2c92cfd5414b" /><Relationship Type="http://schemas.openxmlformats.org/officeDocument/2006/relationships/slide" Target="/ppt/slides/slide1.xml" Id="Rec571d73c0cf4e2b" /><Relationship Type="http://schemas.openxmlformats.org/officeDocument/2006/relationships/slide" Target="/ppt/slides/slide2.xml" Id="Ra03c3f88ce9b40d9" /><Relationship Type="http://schemas.openxmlformats.org/officeDocument/2006/relationships/slide" Target="/ppt/slides/slide3.xml" Id="R9182cdda31f1466c" /><Relationship Type="http://schemas.openxmlformats.org/officeDocument/2006/relationships/slide" Target="/ppt/slides/slide4.xml" Id="R5b05ec502a2a4698" /><Relationship Type="http://schemas.openxmlformats.org/officeDocument/2006/relationships/slide" Target="/ppt/slides/slide5.xml" Id="R3fb79b39215c453e" /><Relationship Type="http://schemas.openxmlformats.org/officeDocument/2006/relationships/slide" Target="/ppt/slides/slide6.xml" Id="Rdb54ba333b734843" /><Relationship Type="http://schemas.openxmlformats.org/officeDocument/2006/relationships/slide" Target="/ppt/slides/slide7.xml" Id="R33c2702ebc0443a9" /><Relationship Type="http://schemas.openxmlformats.org/officeDocument/2006/relationships/slide" Target="/ppt/slides/slide8.xml" Id="R756aefe8f548412f" /><Relationship Type="http://schemas.openxmlformats.org/officeDocument/2006/relationships/slide" Target="/ppt/slides/slide9.xml" Id="R73057878f6934d04" /><Relationship Type="http://schemas.openxmlformats.org/officeDocument/2006/relationships/slide" Target="/ppt/slides/slide10.xml" Id="Rf631a30ff8c040f9" /><Relationship Type="http://schemas.openxmlformats.org/officeDocument/2006/relationships/slide" Target="/ppt/slides/slide11.xml" Id="Rfc482f0d766e434b" /><Relationship Type="http://schemas.openxmlformats.org/officeDocument/2006/relationships/slide" Target="/ppt/slides/slide12.xml" Id="R815f5557304b402b" /><Relationship Type="http://schemas.openxmlformats.org/officeDocument/2006/relationships/slide" Target="/ppt/slides/slide13.xml" Id="R094b4fc96b084e60" /><Relationship Type="http://schemas.openxmlformats.org/officeDocument/2006/relationships/slide" Target="/ppt/slides/slide14.xml" Id="R096181634aab48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23abfa7fa4a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1ef03488446b1" /><Relationship Type="http://schemas.openxmlformats.org/officeDocument/2006/relationships/notesMaster" Target="/ppt/notesMasters/notesMaster1.xml" Id="Re4df72ad7596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a03be69c44671" /><Relationship Type="http://schemas.openxmlformats.org/officeDocument/2006/relationships/notesMaster" Target="/ppt/notesMasters/notesMaster1.xml" Id="R955b61a20454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2d881d540c4345" /><Relationship Type="http://schemas.openxmlformats.org/officeDocument/2006/relationships/notesMaster" Target="/ppt/notesMasters/notesMaster1.xml" Id="Rf674d999375141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157e840c4a4d2e" /><Relationship Type="http://schemas.openxmlformats.org/officeDocument/2006/relationships/notesMaster" Target="/ppt/notesMasters/notesMaster1.xml" Id="R4f11ab456370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37501712264894" /><Relationship Type="http://schemas.openxmlformats.org/officeDocument/2006/relationships/notesMaster" Target="/ppt/notesMasters/notesMaster1.xml" Id="R6ee88d3f47de44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1a5a2e6934435" /><Relationship Type="http://schemas.openxmlformats.org/officeDocument/2006/relationships/notesMaster" Target="/ppt/notesMasters/notesMaster1.xml" Id="Rc2e52e56de11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dfbbeb25b454e" /><Relationship Type="http://schemas.openxmlformats.org/officeDocument/2006/relationships/notesMaster" Target="/ppt/notesMasters/notesMaster1.xml" Id="R09f8814aeb66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1d959c8f40425d" /><Relationship Type="http://schemas.openxmlformats.org/officeDocument/2006/relationships/notesMaster" Target="/ppt/notesMasters/notesMaster1.xml" Id="Rdcf1fe5cc18740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cdb3aa15e94017" /><Relationship Type="http://schemas.openxmlformats.org/officeDocument/2006/relationships/notesMaster" Target="/ppt/notesMasters/notesMaster1.xml" Id="R2d0bd9873fc1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68325ad1464325" /><Relationship Type="http://schemas.openxmlformats.org/officeDocument/2006/relationships/notesMaster" Target="/ppt/notesMasters/notesMaster1.xml" Id="R7f3956c95e8e4e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ceba2f105d46e2" /><Relationship Type="http://schemas.openxmlformats.org/officeDocument/2006/relationships/notesMaster" Target="/ppt/notesMasters/notesMaster1.xml" Id="R0eef311193ca4e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0322d8c69d4895" /><Relationship Type="http://schemas.openxmlformats.org/officeDocument/2006/relationships/notesMaster" Target="/ppt/notesMasters/notesMaster1.xml" Id="R493905b7b38144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f5aafcc5aa4a88" /><Relationship Type="http://schemas.openxmlformats.org/officeDocument/2006/relationships/notesMaster" Target="/ppt/notesMasters/notesMaster1.xml" Id="Ra37d98ed442b4a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7309ec40754154" /><Relationship Type="http://schemas.openxmlformats.org/officeDocument/2006/relationships/notesMaster" Target="/ppt/notesMasters/notesMaster1.xml" Id="R179ef02deb96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결정할 것은 추가 메인 디자인이 아니라, 메인 다음에 이어질 MVP 페이지와 CTA 역할입니다.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메인은 네 가지 학습 의도를 잘 보여줍니다.</a:t>
            </a:r>
          </a:p>
          <a:p xmlns:a="http://schemas.openxmlformats.org/drawingml/2006/main">
            <a:r>
              <a:t>병목은 디자인이 아니라 CTA를 누른 뒤 행동을 완료할 목적 페이지가 없다는 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전환은 무료 발음 체크 예약 완료입니다.</a:t>
            </a:r>
          </a:p>
          <a:p xmlns:a="http://schemas.openxmlformats.org/drawingml/2006/main">
            <a:r>
              <a:t>수업 상담과 학습 키트는 보조 전환으로 닫되, 앱과 콘텐츠는 실제 효용이 준비된 뒤 공개합니다.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MVP의 기본 구조는 유입, 선택, 상세, 행동, 완료, 다음 제안입니다.</a:t>
            </a:r>
          </a:p>
          <a:p xmlns:a="http://schemas.openxmlformats.org/drawingml/2006/main">
            <a:r>
              <a:t>완료 화면까지 있어야 사용자 경험과 전환 측정이 모두 닫힙니다.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CTA 문구에는 목적어와 결과를 넣습니다.</a:t>
            </a:r>
          </a:p>
          <a:p xmlns:a="http://schemas.openxmlformats.org/drawingml/2006/main">
            <a:r>
              <a:t>무료 체크, 수업 상담, 키트 구매는 서로 다른 의도이므로 같은 화면에서 같은 강도로 경쟁시키지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앱과 글은 빈 허브를 공개하지 않습니다.</a:t>
            </a:r>
          </a:p>
          <a:p xmlns:a="http://schemas.openxmlformats.org/drawingml/2006/main">
            <a:r>
              <a:t>작동하는 도구 1개, 실제 글 3개가 준비되기 전까지 내비게이션에서도 숨기는 것을 권장합니다.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/start는 긴 설명이나 폼을 넣는 페이지가 아닙니다.</a:t>
            </a:r>
          </a:p>
          <a:p xmlns:a="http://schemas.openxmlformats.org/drawingml/2006/main">
            <a:r>
              <a:t>방문자가 현재 목적에 맞는 다음 페이지를 고르면 역할이 끝납니다.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화면에서 무료 여부와 소요 시간, 받을 결과를 명확히 보여줍니다.</a:t>
            </a:r>
          </a:p>
          <a:p xmlns:a="http://schemas.openxmlformats.org/drawingml/2006/main">
            <a:r>
              <a:t>폼은 최소 정보만 받고, 제출 후 별도 완료 화면에서 다음 안내를 제공합니다.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초기에는 목록과 상세 페이지를 나누지 않고, 실제 상품 한 개를 끝까지 설명합니다.</a:t>
            </a:r>
          </a:p>
          <a:p xmlns:a="http://schemas.openxmlformats.org/drawingml/2006/main">
            <a:r>
              <a:t>자체 결제·파일 보호 대신 외부 결제 플랫폼이 자료를 전달하는 방식이 MVP에 적합합니다.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MVP에서는 수업별 상세 페이지를 쪼개기보다 한 화면에서 비교하게 합니다.</a:t>
            </a:r>
          </a:p>
          <a:p xmlns:a="http://schemas.openxmlformats.org/drawingml/2006/main">
            <a:r>
              <a:t>온라인 중심인지 충청권 지역 중심인지가 결정되면 카피와 SEO 구조가 명확해집니다.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앱은 실제로 작동하는 도구가 있을 때, 글은 최소 세 개가 있을 때 공개합니다.</a:t>
            </a:r>
          </a:p>
          <a:p xmlns:a="http://schemas.openxmlformats.org/drawingml/2006/main">
            <a:r>
              <a:t>각 콘텐츠는 관련 전환 페이지로 자연스럽게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감사 페이지는 전환 완료를 확인하고 후속 행동을 제안하는 화면입니다.</a:t>
            </a:r>
          </a:p>
          <a:p xmlns:a="http://schemas.openxmlformats.org/drawingml/2006/main">
            <a:r>
              <a:t>개인정보, 이용약관, 환불정책은 폼과 판매를 시작하는 시점에 함께 공개합니다.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초기에는 목표 전환율을 임의로 정하기보다 실제 기준선을 확보합니다.</a:t>
            </a:r>
          </a:p>
          <a:p xmlns:a="http://schemas.openxmlformats.org/drawingml/2006/main">
            <a:r>
              <a:t>페이지별 SEO 기본값과 이벤트를 구현 시점부터 함께 넣습니다.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CTA, 외부 운영 도구, 시장 초점을 결정하면 MVP 범위가 고정됩니다.</a:t>
            </a:r>
          </a:p>
          <a:p xmlns:a="http://schemas.openxmlformats.org/drawingml/2006/main">
            <a:r>
              <a:t>이후 기반, 코칭, 판매·상담, 준비된 콘텐츠와 앱 순으로 구현합니다.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62b9a88b0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7a6d0328a4803" /><Relationship Type="http://schemas.openxmlformats.org/officeDocument/2006/relationships/slideLayout" Target="/ppt/slideLayouts/slideLayout1.xml" Id="R7796f5d40fa8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96f5d40fa8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9291e6bf549b6" /><Relationship Type="http://schemas.openxmlformats.org/officeDocument/2006/relationships/image" Target="/ppt/media/image.png" Id="Rbce6e6642f33468f" /><Relationship Type="http://schemas.openxmlformats.org/officeDocument/2006/relationships/image" Target="/ppt/media/image2.png" Id="Reabffbedd6154444" /><Relationship Type="http://schemas.openxmlformats.org/officeDocument/2006/relationships/notesSlide" Target="/ppt/notesSlides/notesSlide1.xml" Id="Rf51bf41aba5d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996adb323468c" /><Relationship Type="http://schemas.openxmlformats.org/officeDocument/2006/relationships/image" Target="/ppt/media/image3.png" Id="R864992ecfecc4f7d" /><Relationship Type="http://schemas.openxmlformats.org/officeDocument/2006/relationships/notesSlide" Target="/ppt/notesSlides/notesSlide2.xml" Id="R3557d57e6d1549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c2bf166d04096" /><Relationship Type="http://schemas.openxmlformats.org/officeDocument/2006/relationships/notesSlide" Target="/ppt/notesSlides/notesSlide3.xml" Id="Rb49b1feee21d47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b782b1fe4d99" /><Relationship Type="http://schemas.openxmlformats.org/officeDocument/2006/relationships/notesSlide" Target="/ppt/notesSlides/notesSlide4.xml" Id="Rbe1d16963d674a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222efee3f4a52" /><Relationship Type="http://schemas.openxmlformats.org/officeDocument/2006/relationships/notesSlide" Target="/ppt/notesSlides/notesSlide5.xml" Id="Raeb8a7a2445c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44e01b8ea47a5" /><Relationship Type="http://schemas.openxmlformats.org/officeDocument/2006/relationships/notesSlide" Target="/ppt/notesSlides/notesSlide6.xml" Id="Ra4f831b1572e43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f84a5a1f74d25" /><Relationship Type="http://schemas.openxmlformats.org/officeDocument/2006/relationships/image" Target="/ppt/media/image4.png" Id="Raf438839cb094e26" /><Relationship Type="http://schemas.openxmlformats.org/officeDocument/2006/relationships/notesSlide" Target="/ppt/notesSlides/notesSlide7.xml" Id="Rd990d34fb94842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4549024e4c4a" /><Relationship Type="http://schemas.openxmlformats.org/officeDocument/2006/relationships/image" Target="/ppt/media/image5.png" Id="R0618818a658c45a4" /><Relationship Type="http://schemas.openxmlformats.org/officeDocument/2006/relationships/notesSlide" Target="/ppt/notesSlides/notesSlide8.xml" Id="R922598893736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d4bad04694dd9" /><Relationship Type="http://schemas.openxmlformats.org/officeDocument/2006/relationships/image" Target="/ppt/media/image6.png" Id="R4a1f61e998384e58" /><Relationship Type="http://schemas.openxmlformats.org/officeDocument/2006/relationships/notesSlide" Target="/ppt/notesSlides/notesSlide9.xml" Id="R788c4f58b3814b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47b2d073d471f" /><Relationship Type="http://schemas.openxmlformats.org/officeDocument/2006/relationships/image" Target="/ppt/media/image7.png" Id="R1fc00dadbab9474c" /><Relationship Type="http://schemas.openxmlformats.org/officeDocument/2006/relationships/notesSlide" Target="/ppt/notesSlides/notesSlide10.xml" Id="R46d71587739b45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d1525cd314fdc" /><Relationship Type="http://schemas.openxmlformats.org/officeDocument/2006/relationships/image" Target="/ppt/media/image8.png" Id="Reb0954d3a4134c0b" /><Relationship Type="http://schemas.openxmlformats.org/officeDocument/2006/relationships/notesSlide" Target="/ppt/notesSlides/notesSlide11.xml" Id="Rda90ef5229cb47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02a5d91724a8e" /><Relationship Type="http://schemas.openxmlformats.org/officeDocument/2006/relationships/image" Target="/ppt/media/image9.png" Id="R6034cbd9afb945a8" /><Relationship Type="http://schemas.openxmlformats.org/officeDocument/2006/relationships/notesSlide" Target="/ppt/notesSlides/notesSlide12.xml" Id="R97def46a9e1c4b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9dafbe4814576" /><Relationship Type="http://schemas.openxmlformats.org/officeDocument/2006/relationships/notesSlide" Target="/ppt/notesSlides/notesSlide13.xml" Id="Rb717ba2e13794a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11dd47df245a2" /><Relationship Type="http://schemas.openxmlformats.org/officeDocument/2006/relationships/image" Target="/ppt/media/image10.png" Id="R102dd3660b2840ff" /><Relationship Type="http://schemas.openxmlformats.org/officeDocument/2006/relationships/notesSlide" Target="/ppt/notesSlides/notesSlide14.xml" Id="Rb494db4180e7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6e6642f3346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49380-F12D-481B-8C9C-D586C775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286500" cy="44005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CFE">
              <a:alpha val="90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ffbedd6154444"/>
          <a:stretch xmlns:a="http://schemas.openxmlformats.org/drawingml/2006/main"/>
        </p:blipFill>
        <p:spPr>
          <a:xfrm xmlns:a="http://schemas.openxmlformats.org/drawingml/2006/main">
            <a:off x="876300" y="1382682"/>
            <a:ext cx="1123950" cy="56838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3AE05-5FF0-423D-A029-630DF43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MVP WEBSITE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62CD5-E0C3-42A1-85DB-CD48688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334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435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메인 다음의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435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한 걸음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140BA-337E-41B3-82F7-7845DB27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CTA 우선순위와 MVP 페이지 구조 제안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74B45-E5AA-4DE1-9B3F-AFEDBAF2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9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64947-15B2-46A7-A4FC-99ED4975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현재 메인 경험을 신청·상담·구매가 완료되는 서비스로 확장합니다.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931C7-5482-4B9F-B033-2878183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242194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34CD0-B702-4AF3-893D-F335D83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E9964-9BF5-4AB5-82AF-ECA3F2B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브랜드 경험은 준비됐지만, 전환은 앵커에서 멈춥니다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BCB02-BA96-4D2A-B0CF-C52514AE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준비됨</a:t>
            </a:r>
            <a:r>
              <a:rPr sz="135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  메인·반응형·디자인 시스템·목업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56794-7364-49CD-840F-477771A9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비어 있음</a:t>
            </a:r>
            <a:r>
              <a:rPr sz="135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  상세 페이지·폼·결제·완료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A6FF-C96E-4DC4-8E37-14F86865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96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B4C05-F5E0-4B5C-9A97-C8F6F66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현재 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4740D-FAA1-4F34-9549-9CD4B51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12AA1-0CF1-421E-B4E2-3159854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무료 코칭 신청 → #start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4E2FB-9D0C-49FB-BF0A-21ABCCB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7E5D4-EC94-4D6E-8D85-A7B3A0EA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3FA4A-9D6D-4C18-918E-E50E5110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자료 보기 → #kits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D61E3-5D56-4913-993F-E7ED4D7B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A07F5-0A88-45D5-87C0-312BDD00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FFC2E-E562-4E37-A8E6-034FA4A0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수업 상담 → #classes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B9151-D6D2-4173-AEC8-37FF0A55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55DA6-EAA0-437B-8810-507B1DC8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FEBB7-9E62-4342-86E1-89DD25D0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앱 열기 → #apps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E14AE-07E0-46CA-A53E-9AA68BE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6343650" cy="4105275"/>
          </a:xfrm>
          <a:prstGeom xmlns:a="http://schemas.openxmlformats.org/drawingml/2006/main" prst="roundRect">
            <a:avLst>
              <a:gd name="adj" fmla="val 55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992ecfecc4f7d"/>
          <a:srcRect xmlns:a="http://schemas.openxmlformats.org/drawingml/2006/main" l="0" t="8655" r="0" b="8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1847850"/>
            <a:ext cx="6076950" cy="3838575"/>
          </a:xfrm>
          <a:prstGeom xmlns:a="http://schemas.openxmlformats.org/drawingml/2006/main" prst="roundRect">
            <a:avLst>
              <a:gd name="adj" fmla="val 397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8308C-4F81-48FB-82D0-AA2B508F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193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868"/>
          </a:solidFill>
          <a:ln xmlns:a="http://schemas.openxmlformats.org/drawingml/2006/main" w="9525">
            <a:solidFill>
              <a:srgbClr val="FF78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454C0-D42B-45BB-8D75-1AFB1EDA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288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목적지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ED3CA-3E40-4732-8A25-4E36774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F75AA-51F7-4077-A690-EEB464B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CURRENT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889E9-B847-44F3-A39E-2FC7933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722441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CFE"/>
            </a:gs>
            <a:gs pos="100000">
              <a:srgbClr val="EAF6F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851F9-6151-4AE1-BED7-E65BD32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MVP NORTH STAR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113C3-3594-41DA-BD9D-2BCF3C9C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MVP의 기준은 페이지 수가 아니라 행동 완료입니다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AE66B-6CAF-4822-830E-6483703E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914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7182A-B7B7-4A1C-A4BC-BC3B5B6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7645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525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무료 발음 체크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525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525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예약 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865B9-74E6-4976-8205-5E46786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낮은 진입 장벽으로 첫 신뢰와 리드를 확보하고, 이후 수업과 자료로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2480D-C860-4DA0-B0B7-31638043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29718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B5DB-B540-41B1-A999-93426365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95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무료 발음 체크 예약 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367BD-C442-4A91-A0E8-86B1BAA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9775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0BEBF-FB7E-48C3-975E-879EECB6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1455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73D2CB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73D2C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31D4F-0B46-4F36-9DC4-0138950A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수업 상담 제출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6B0D0-C73E-4197-B099-A3046536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고관여 학습자의 목표·일정·형식을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7A8F2-8A6D-4706-9173-1BB9FF89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2419D-712C-4A47-B9AB-35D43A4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29025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ECEA7-CB20-4F97-9FC2-18CA3F4B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키트 구매·샘플 열람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B14AE-A253-4414-B3B2-E206710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기존 PDF 자산으로 첫 매출 경로를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E421D-D20F-47A5-AA77-5854A490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DE6FD-EC9F-4154-A8AE-8CFA17DD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MVP NORTH STAR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CB6DD-062F-4008-B5CB-4AA1A4E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8495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D77DD-0321-4B89-9715-B67017B6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CORE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4C181-0E7F-4C06-BF31-25F0A12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사용자는 한 번 선택한 뒤 완료까지 끊기지 않아야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30495-A42E-46A9-885E-7DB4007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직접 CTA는 목적 페이지로, 의도가 불분명한 방문자만 /start로 보냅니다.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561D4-4BCE-47D3-A9AD-9C5BD62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9D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BD7BD-8A68-498F-9F5D-487B874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24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199D4-2102-4365-BF09-90DB5893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9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ECE1C-6EF9-4DEA-8186-5642FA5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09991-A147-4F34-89B7-178AEE71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9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A60C4-5C5E-470A-B60D-C139A3EC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1C12F-13FD-4B5E-AD69-F3C05992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95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D2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8463-E49E-4DA8-9237-487AB809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73D2CB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73D2CB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1A189-65DB-4E35-AD9A-126B45C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9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32E76-30C1-4E1D-8949-38E2CECD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45701-A5E8-42BF-A7C6-7B3611D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3525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53F60-CBFB-41FD-8014-8BEE6F9B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유입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04767-4296-4935-B90E-3F46CFC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검색·SNS·소개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18A5D-9876-4286-9BD2-16FE10C6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0300"/>
            <a:ext cx="13525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CC725-C086-497D-98D8-310A9FBE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8CF88-E02A-43AB-A537-6EB4E56B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홈 또는 /start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35E59-E061-47EA-A171-AD3BB64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13525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3920A-F02D-49D6-8635-8DE0064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상세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5CFFF-C7B2-4D67-AE90-93B211B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코칭·수업·키트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9DA5E-FA66-4727-9C64-4B1D97C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13525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FFA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AA7B8-6A70-40F8-BEAB-E567337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행동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2C25C-EB0A-4985-950B-DE1B2FCC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폼·예약·외부 결제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43FC5A-2C65-46C2-BD2A-488643AB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13525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73D2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2220E-B38A-4700-9485-324C130D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9D095-D03B-4F8C-93E4-670B54C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감사·확인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43D003-8885-4776-9987-A7FBEB1F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3525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39ACF-5A2E-4BCF-8658-164B8742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다음 제안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8EE4EB-9A63-49E1-B868-EF1ED70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수업·자료·앱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62C6E-23A0-42BD-BDE5-2B5A19B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세 가지 완료 경로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EE8F4-A41E-4902-B138-C518AB69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9B9D6A-C2A3-4284-8157-9E1B149C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1813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5207F-D7B8-45B7-AE49-F34F4B9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9DE8"/>
          </a:solidFill>
          <a:ln xmlns:a="http://schemas.openxmlformats.org/drawingml/2006/main" w="9525">
            <a:solidFill>
              <a:srgbClr val="5D9D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6DF08-9AA0-4077-B264-792A1CDC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발음 고민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5FDDBC-AED5-4D0D-9FD3-238A725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→  무료 체크 예약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CFB899-BD6D-482B-9215-FF114265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1813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3BB436-E994-4D06-B75D-9B48B629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2CB"/>
          </a:solidFill>
          <a:ln xmlns:a="http://schemas.openxmlformats.org/drawingml/2006/main" w="9525">
            <a:solidFill>
              <a:srgbClr val="73D2C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0E559-9FF8-45E4-9E03-13EF38FD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수업 탐색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7E04C2-523F-4682-B8CF-B0C64B78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2445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→  상담 제출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C704E9-622C-4D0E-9BAA-73F6077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31813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D258FB-B145-4579-866D-0CBF5C7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68"/>
          </a:solidFill>
          <a:ln xmlns:a="http://schemas.openxmlformats.org/drawingml/2006/main" w="9525">
            <a:solidFill>
              <a:srgbClr val="FF78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CA6A49-5B06-4D10-84ED-5CC14A9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혼자 학습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C2252D-AE66-41EE-976D-1508A099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2445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→  키트 구매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8B276D-AAFF-403C-B45B-A669CB13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E7D23F-5E92-47D4-A38E-9D7217D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CORE USER JOURNEY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D05756-D387-482C-88E3-D0A669C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2887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A1760-7ED0-4A1C-B503-D7660CE2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CTA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1CA85-586C-475B-95F0-3B8C6978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CTA는 행동보다 결과를 말하고, 페이지마다 1순위는 하나만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519B4-534B-4DB1-8120-41AC102A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`신청하기`보다 사용자가 얻게 될 결과와 목적지를 함께 명시합니다.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478DF-1024-4724-BB84-DEB752C7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위치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B3AF4-D657-44DA-A1CB-BB1CC37B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478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권장 문구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12E3A-43AF-41C6-BF59-03A33CE4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D98DE-744D-4816-AE8B-7CE9123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47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목적지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1C098-0331-41FF-9F86-7D7B32BF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B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7786E-63B2-4D2E-917A-B87A6EB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EFFA"/>
          </a:solidFill>
          <a:ln xmlns:a="http://schemas.openxmlformats.org/drawingml/2006/main" w="9525">
            <a:solidFill>
              <a:srgbClr val="DDEF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F6C84-7948-4D72-977C-E982258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글로벌 헤더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225C9-2336-424E-9D6D-15E8C78B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527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무료 발음 체크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27A2E-6AC5-4368-A43B-9637DE26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가장 낮은 진입 장벽으로 첫 경험 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1C9E0-936E-4933-AA6A-B8FDE5C8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/events/...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A0AE5-5951-4E40-8149-3269F99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9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93355-2748-4DEB-9A35-B3B0F199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내비게이션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C5BBB-90ED-43EF-9ADD-D9473B5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99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학습 시작하기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8B28F-D9F0-4741-8B4F-AA53D5B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99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의도가 불분명한 방문자의 경로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6F6E-3679-4A30-A42C-CA1BC02C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99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1C780-C684-4927-9BED-0BAA386A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9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0CCC3-9066-47B4-B0D3-5AC12769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자료 섹션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34CAD-482A-4C7F-A43F-05C75DED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671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한글 모음 키트 미리보기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EC1F4-081B-414D-978D-793659E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실제 샘플 확인 후 구매 판단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E21C6-53D1-46B3-8ED0-D3E1B577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/study-kits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9E206-D836-4ABF-8999-6B90E28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9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99959-A6A2-4D56-901D-C90FC92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수업 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DF0B0-0823-483E-A850-693962B1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243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내게 맞는 수업 상담하기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A87073-3977-45EC-8CB6-03D1B97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243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목표·일정·수업 형식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9934F-F599-450B-AADF-8BBA4509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243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/classes#consultation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6587D-D1C9-4454-B5D8-3B59805A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9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C4927-ACE7-470E-BC08-3498E5CB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앱 페이지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D5D42C-B10E-478A-B786-A18A406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816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오늘 5분 학습 시작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A9D85E-7D16-4271-9E7E-03D6BCA4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816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작동하는 도구로 즉시 학습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BD25B4-C214-4130-A776-2FC84C2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816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/apps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33DEA-C236-452C-8532-53F7526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90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4120ED-4E8C-40C8-9A01-26BF569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 원칙  ·  한 화면에 강조 버튼 1개  ·  모바일 상세 페이지는 하단 고정 CTA  ·  ‘더보기’ 금지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80C07-D263-4746-B825-D13A4AC5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53443B-9DE9-46FC-BC9C-76D12BA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CTA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C985B9-CA95-40E0-88C7-AF45B346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0087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94865-27CA-4246-A5BD-7B948D9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MVP SITEMAP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2A0B-30A3-4EB5-A1D5-14962B8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출시에는 7개 핵심 화면과 운영 페이지면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D8BB0-68A7-4F04-B386-54C1BF8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얇지만 행동이 끝까지 완료되는 범위를 먼저 출시합니다.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38ED9-B3CC-4491-8D83-0674CEB3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1EE36-9932-4135-BC3D-3F335993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P0 · 출시 필수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4E57B-DBBE-4B90-876A-8AA19CF0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핵심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DE766-3470-4333-B4B8-EC3551DF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57C93-5DDE-4BC2-A2C4-B533748D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1C191-7371-43B2-93EC-80DF8D0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브랜드·분기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13297-DB82-422A-824A-61A177C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85F0B-6A2A-418F-B022-05A936C8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DF929-06BE-46E8-B08A-2270566B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경로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145F5-A678-4948-A273-01377460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EFFA"/>
          </a:solidFill>
          <a:ln xmlns:a="http://schemas.openxmlformats.org/drawingml/2006/main" w="9525">
            <a:solidFill>
              <a:srgbClr val="5D9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D76B6-40C0-41F0-8026-E005AA7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194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1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/events/free-pronunciation-coaching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0BA87-8C92-4EF9-9C27-964D7AD3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예약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DF897-D0E1-4A1E-9512-660FC11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B1022-2098-46D8-B4AE-08490F96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194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445FC-FCB7-483D-888E-0724196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FFDB0-0F97-4DDB-A11C-4155415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A1EE5-5909-4BB5-BF3F-005FB72A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/study-kits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296A5-4CBF-4ED0-BB1D-F7967997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단일 상품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82AC3-7E76-49C6-9F69-8DB21ED5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7C92E-BAB0-476C-9B99-DBB2A81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957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/contact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EA786-B074-48C5-B81D-440AE45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일반 문의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DA39B-B523-451A-8AC6-F07EE06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2400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429D6-749A-441E-874B-38848EF1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957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/thanks/*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0DB93-063B-4F76-B589-70925F27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4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완료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650A9-D25C-4F80-B846-7661849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운영·신뢰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12F20A-9A4A-423D-BA04-4A932A1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7677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/privacy   /terms   /refund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9D0003-E69E-4B83-8DC2-A16C308F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폼 수집과 판매를 시작하는 순간 함께 공개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DB199-6991-4ABC-9542-3D32B3D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06ECB-390D-49A3-9C88-C916043C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790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BAE"/>
          </a:solidFill>
          <a:ln xmlns:a="http://schemas.openxmlformats.org/drawingml/2006/main" w="9525">
            <a:solidFill>
              <a:srgbClr val="356BA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2CB37-32F6-4925-B5B6-E7C539AC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P1 · 준비 후 공개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46A5E-7EF6-47BB-950F-FAEF8AE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10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/apps  작동하는 도구 1개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AEAE4B-9E4A-4D91-BBF5-CA0A1482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10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/learn  실제 글 3개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18FEF3-5FFF-4733-ACD7-285B58D7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10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/method · /tutors · 상세 수업 · 지역 SEO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43E41-9B8C-428B-B05A-4D38D51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F8DF22-0EF4-4648-AF3C-61BB42EC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MVP SITEMAP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0CB49-99ED-4915-A48E-AE35F29F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66710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6FF7C-1348-4B01-BE01-567D6CC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PAGE 01  ·  /start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EC918-2F14-48DA-812C-AE6F94FD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‘학습 시작하기’는 결제 버튼이 아니라 목적별 라우터입니다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487E4-1C51-4B65-85BA-293DBCCE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설명보다 선택을 돕는 1-screen decision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D0094-555E-4689-B051-0BFCF06E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2940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38839cb094e26"/>
          <a:srcRect xmlns:a="http://schemas.openxmlformats.org/drawingml/2006/main" l="1010" t="0" r="1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114550"/>
            <a:ext cx="6400800" cy="3676650"/>
          </a:xfrm>
          <a:prstGeom xmlns:a="http://schemas.openxmlformats.org/drawingml/2006/main" prst="roundRect">
            <a:avLst>
              <a:gd name="adj" fmla="val 414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0B3B5-4C26-4060-9F22-458A4989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페이지 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6D140-4AEE-4B72-BEEA-0994978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3695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210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지금 필요한 학습 경로를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10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2100" b="0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빠르게 고르게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51A25-9D73-4B27-AAD2-65454A63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62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78AD5-04FD-4EEE-A9B6-6E2895CA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상단 질문: 지금 가장 필요한 것은?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37B6-CD73-4088-BC21-EB0F84D5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62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1C627-AC73-444D-8D97-4929F74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19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9AB73-D6B8-47C4-A091-18A2916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무료 발음 체크를 가장 크게 강조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B64CE-766B-48F0-A614-ADB4C5C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BFCA4-732D-475B-AB1F-9FE49046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76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0B70D-3440-48D1-BE1B-B07A028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자료·수업을 보조로, 앱은 준비 시 공개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67089-1F44-405D-8267-DA7DC8F5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767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448BA-8844-40B6-BF07-C55631A2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33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B9A47-8593-4358-8E58-9A0EC67D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‘잘 모르겠어요’는 일반 상담으로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5B492-627C-4358-BD85-E12DEAA4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14950"/>
            <a:ext cx="32766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99D41-6A6D-4860-A5D9-EDA1B7A5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340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무료 발음 체크로 시작 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A6F75-94FB-4495-B13C-B64E53E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3C48D-DB2C-469D-95A1-C0F2445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PAGE 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97A80-EF0B-410C-BC11-1D3BD788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4318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79B28-DD0D-4E66-9CE3-187890BA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PAGE 02  ·  /events/free-pronunciation-coaching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5CF81-F830-4B86-B2B4-7BB5B96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무료 발음 체크가 해온의 첫 신뢰 경험을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8CF22-9300-48B5-952B-40F5C7CE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단순 리드 폼이 아니라 수업 품질을 미리 보여주는 첫 경험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8F08E-5027-44BC-B4F8-E06ACB5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2865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8818a658c45a4"/>
          <a:srcRect xmlns:a="http://schemas.openxmlformats.org/drawingml/2006/main" l="3898" t="0" r="38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95500"/>
            <a:ext cx="6057900" cy="369570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66D58-9D56-4E6D-A0E3-C8169727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19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권장 섹션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03210-261B-4442-9EFD-32136D2D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28BEB-343A-49A7-8B5E-3A0597AE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약속 · 무료 · 진행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5E186-C21E-4ED6-82DA-F3A179C5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0D575-7CAD-411D-8604-897BA963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67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07A57-5C6B-4584-B029-F6C95148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받게 될 피드백과 리포트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71406-AB32-432C-A63B-ADF14F44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480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83FBA-94D3-4CB2-A320-5C129FB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05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661B2-32EC-42DA-9ED3-30D68845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추천 대상과 진행 3단계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325DC-6766-4799-A123-F8CAB5C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46EF8-0BAC-44B9-B983-C267D79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43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82D69-7D9D-429B-826E-E3BEDA32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튜터·수업 방식 신뢰 근거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645E4-F6E9-4FEB-83DC-4C72FF1D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F5BD1-9D7E-4C4F-9B29-AADFF1A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5FD51-5BC7-48C6-84E9-A79C124D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5290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최소 신청 폼과 FAQ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84886-01F8-4C97-951C-229650E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5D7DE-47F5-4A1E-93D5-9D84268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24CFA-C108-4B1F-9872-4AA1722B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별도 예약 완료 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05F59-ED79-4CE6-80A3-88B14E2B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폼 최소값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E3404-C73A-4E1B-8945-8C88552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244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이름 · 연락처 · 현재 수준 · 가능 시간 · 동의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6EB12-F5F1-42A3-8F99-F71F2CE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24500"/>
            <a:ext cx="3676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E1DB20-C0B8-4950-B6A4-DA94D6E6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20분 무료 발음 체크 신청  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A90FF9-0C28-4CB8-8EAF-27327F78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115050"/>
            <a:ext cx="388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* 운영 시간이 미확정이면 CTA에서 ‘20분’은 제거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CBC3E0-72BB-4AC5-8D15-7457F59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178D5-921E-4E3E-9DA0-B53F58A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PAGE STRUCTURE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65D290-75B4-448B-9973-FFBDFB7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8687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4697B-9DA9-42F5-BC7F-F12FF5E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PAGE 03  ·  /study-kits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D93FC-9F7A-4708-9BB4-895FE433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첫 매출은 상품 하나를 끝까지 설명하는 페이지에서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C530C-A052-492C-94A2-E0A49AEC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MVP에서는 카탈로그보다 ‘한글 모음 키트’ 단일 상품 랜딩이 효율적입니다.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C19B4-E4DF-4202-A97E-BF6A6411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3055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f61e998384e58"/>
          <a:srcRect xmlns:a="http://schemas.openxmlformats.org/drawingml/2006/main" l="3990" t="0" r="39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95500"/>
            <a:ext cx="60769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79BF3-9494-43B6-891B-927CBCB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19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권장 섹션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A07D-37EA-46DF-876A-0F87E35D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28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5F871-D0D6-4C37-A512-68967D9C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학습 후 얻는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BF01C-2346-4A65-A913-1B05AB7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9875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9A11E-25C1-4061-901E-29F4CC2E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67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754E-6D6C-4BB0-9080-20BA3148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실제 PDF 샘플 미리보기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FFE7D-DC7D-4B6D-9463-78399137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A4211-D29A-4D7D-A652-208FBBED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05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9E51D-6AC0-4206-9869-8D68D64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PDF·영상·체크리스트 구성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70EA0-A018-4A39-A81F-0C7B689A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86175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30F03-6873-4A20-9A6D-4FDF3824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43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D5E93-518E-4105-AA7B-D840EF5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권장 학습 순서와 사용법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4B492-78F3-4B0C-8D58-7C8534C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24325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4E364-6831-4B7F-B6A2-966DA351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41BEB-AF97-45C5-8C07-2C629CE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전달 방식 · 가격 · 환불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492A2-7765-4968-AFC6-943A12E9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BD540-8CCD-4C16-AA4C-AF8928FF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DEEDB-9FA1-40F6-85CC-4E6257E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외부 결제 후 즉시 전달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D50B5-DE82-45B2-BE59-7C01442E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57800"/>
            <a:ext cx="3486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A1CBE-B777-49B0-B24D-E809717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76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한글 모음 키트 구매하기  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18158-4D90-4761-90CB-025B452E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8769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보조 CTA  ·  샘플 3쪽 미리보기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2143B-36F6-4245-9871-C8288F8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9F4CD-F532-4921-838C-950D14A6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PAGE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8B807-AA51-4381-8F22-CC1C4D35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1320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7ABD3-BA06-49FB-9BC8-2142B3F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PAGE 04  ·  /classes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A4A8B-216B-468D-840E-E75A67E5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수업 페이지는 옵션보다 ‘나에게 맞는 선택’을 먼저 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8E679-2B0F-4B8C-8217-AEB8EF2C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1:1·KIIP·지역 수업을 한 화면에서 비교하고 상담으로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0EF79-0B8A-46FF-B7C3-1DA738BC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2865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00dadbab9474c"/>
          <a:srcRect xmlns:a="http://schemas.openxmlformats.org/drawingml/2006/main" l="3898" t="0" r="38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95500"/>
            <a:ext cx="6057900" cy="369570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2D83-EACE-4F46-AFE9-F43E2487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19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권장 섹션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0D7A7-E9B3-41E4-A399-44107DAA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029DA-DBE3-4230-A76B-34FE3A51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학습 목적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BF9F2-A5E0-47AC-928E-D366FC7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98667-AF13-46CB-86F0-F485B86D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7EA24-CF31-41FE-B063-27E401FC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1:1 · KIIP · 충청권 수업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0B486-8C79-439D-8FD8-2D592472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432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7EA5B-9C49-4BAB-89BF-047ED780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0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577AC-68E2-41D2-BC96-B45E3F6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방식 · 일정 · 가격 안내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42D34-A4AD-41DF-9F50-B099D91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F847B-CDE9-4484-A1CD-2446DEE4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2E6DC-377D-4C61-B966-9C121A2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튜터 · 방법론 · 실제 자료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0DFA2-0D8B-40E5-86DB-041801BF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148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3FB2E-EAEC-4B07-98E6-0F0461E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71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F26EF-54AE-4867-9138-C335AEFE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상담 절차 · FAQ · 신청 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D067E-71FF-4197-92DC-1F4195C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14900"/>
            <a:ext cx="4171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73D2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4ACE2-7F5E-420E-8B02-10AC820A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387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먼저 결정  ·  온라인 우선인가, 충청권 지역 우선인가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69E82-0C09-4CE4-A303-5CE200C3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9750"/>
            <a:ext cx="3543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2378A-A80D-48B9-B02A-719962F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내게 맞는 수업 상담하기  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AF567-6852-46DE-9C73-EF5C122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49836-7686-4E0C-99DE-E32F1B3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PAGE STRUCTURE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2C85E9-B6FD-4051-A1E4-51856B3E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8529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8913D-D3D6-442D-83C2-8ADB944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P1 EXPANSION  ·  /apps  ·  /learn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8C35F-CC38-4553-A62E-99963DC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검색과 재방문은 최소 한 개의 실제 효용에서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FA43D-892B-4164-AB22-C90D6FC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빈 블로그와 가짜 앱 런처보다 작동하는 도구 1개와 실제 글 3개가 낫습니다.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694BA-713B-48B0-A29F-BCB7FE5B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848350" cy="35814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54d3a4134c0b"/>
          <a:srcRect xmlns:a="http://schemas.openxmlformats.org/drawingml/2006/main" l="2859" t="0" r="28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114550"/>
            <a:ext cx="56197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65ECE-31DF-439B-90A1-CA7FCE7F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BAE"/>
          </a:solidFill>
          <a:ln xmlns:a="http://schemas.openxmlformats.org/drawingml/2006/main" w="9525">
            <a:solidFill>
              <a:srgbClr val="356B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7E9B6-BCB8-45C8-AA5C-730F66E7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 1개부터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49DC7-2805-4743-8716-6721DF7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/apps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BEF83-A68E-44FE-B5FF-89C4021E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작동하는 발음·받아쓰기·단어장 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하나를 완성한 뒤 공개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E702F-DDC2-435E-85C5-0FBADE4E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Primary CTA  ·  오늘 5분 학습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874C7-EF95-4DEA-9F68-2B29A05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528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C6BBB-FF7B-41E0-88BA-764BD9FF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/learn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68E21-A86B-423D-9DF4-3C2FECEA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발음 · 한글 읽기 · KIIP 글 3개로 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BD295-A718-46E2-922E-37C4F6A0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5300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발음 글 → 코칭   ·   한글 글 → 키트   ·   KIIP 글 → 수업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C71AC-79AC-49A5-B5D5-B7913EDC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67375"/>
            <a:ext cx="43243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09433-9D28-48EC-A942-188355F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43575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 전에는 내비게이션에서도 숨김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C0F43-3E48-4892-84BA-0A6D26C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A6C48-14AB-48B1-B4B8-40337466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P1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6D16C-69EE-4DEA-B96C-24346E7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3803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B0BB9-2296-4883-9F13-2F7285A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SUPPORTING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1A585-F470-4DF5-8D6D-F81B5CC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완료 화면과 정책 페이지가 전환의 신뢰를 완성합니다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34FCC-6FFF-4665-A5E3-2856507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버튼을 누른 뒤 무엇이 일어나는지 설명하는 화면도 MVP의 핵심입니다.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8F18D-EEC8-462A-ADBF-694A0FC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705100" cy="39243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4cbd9afb945a8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133600"/>
            <a:ext cx="2171700" cy="3619500"/>
          </a:xfrm>
          <a:prstGeom xmlns:a="http://schemas.openxmlformats.org/drawingml/2006/main" prst="roundRect">
            <a:avLst>
              <a:gd name="adj" fmla="val 70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C85DD-3EC9-467E-921E-37992EA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신청·문의 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2E9B9-1E97-4A60-B25F-C528C4F8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62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C6196-90A6-490A-B881-0B7533CC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33650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접수 내용과 답변 예상 시점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262B8-1E92-4CA1-A664-62995FC4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8229E-FD14-49CD-9C60-258964E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87C5D-C30B-4DF0-84A8-D67A7418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수정·취소·문의 방법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9949A-8392-4A63-A6C0-9C161332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997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24AE-8380-46C9-95E8-9CD40C20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B1F01-36C8-43A4-BBCB-C7817B1F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부담 없는 다음 학습 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D4313-94CC-4011-B88F-504F7933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19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권장 경로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D69D8-B3BD-4477-82F6-9827B61C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/thanks/coaching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/thanks/inquiry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AD93F-DB95-4C62-A912-93A938A9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A68D2-76A2-4898-A1F2-654158D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공통 운영 페이지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B4949-9B54-4FB1-B415-ECE8FA6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0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7BCAC-A652-470D-9F91-6387B64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743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/contact  일반 문의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853FE-3A90-458A-8320-97F04DBB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337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59C9E-258E-4105-A18D-6EC88F2A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90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A196F-A98F-44FB-9AB4-33FE3E8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2300"/>
            <a:ext cx="2743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/privacy  개인정보 수집 고지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5CD07-20C5-4E9B-8EAF-43B5D03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242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2A540-FA53-43B8-85C9-B9BFE74F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81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80B13-A314-4F25-A6FC-08448F0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743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/terms  이용 조건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7CC50-2878-4B16-B618-81F924F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148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B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DDB50-D236-49AB-BEEC-0B5EDA83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DABFC-CA3C-4047-AFC3-7A8648B2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2743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/refund  판매 전 환불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BC888-C132-4D50-AA96-4D90ECF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62550"/>
            <a:ext cx="320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73D2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BC33A-98CC-4F13-B81D-49DE01B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모든 페이지의 공통 푸터에서 연결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A5AB5-2292-4D3E-89D3-B5E07D79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1DC15-C418-48C6-8F72-C2F2056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SUPPORTING PAGES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81E552-CCE0-4FC9-BC6B-3852F4BA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323271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1B6D3-3860-4428-B9FB-85F1CF3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3D9BF-5EFF-4677-9B45-8C695689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첫 버전은 성과를 예측하기보다 경로를 측정 가능하게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28E2-7C55-4727-BEC8-749E59C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근거 없는 목표 수치 대신 실제 행동의 기준선을 확보합니다.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BD22D-0BF9-4667-B75A-A889790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962150" cy="21907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596C3-0EA3-4580-BEB4-E5D5FCA9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801C7-4B41-4A01-9245-3805442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PAGE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6C7CD-9063-47B0-A8E5-13CC551E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페이지 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23E6F-DB85-4927-856D-6E3B7AC8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page_view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036E2-E6F7-4754-8859-45750974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0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CF908-6A32-44B3-8750-70F049E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1962150" cy="21907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0CF55-FD98-45E3-85BA-CFC74F27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46BE7-F3D8-4EC9-B587-3FC4EE8B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2E94D-D151-4991-A6ED-E5EA065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학습 경로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97793-F791-491B-84D6-2051F31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29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select_learning_path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DC481-418B-4226-A523-1D7ADA12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2B218-833C-420D-A8E5-C18F86D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1962150" cy="21907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8B943-9031-45F0-9476-32D11FD7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B96CD-D526-44E7-B6B9-D5797E78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11323-97E0-490C-BF20-1D635FED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폼 시작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373A6-046A-4D9F-8C80-4945A44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19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coaching_form_start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4829C-04E3-497F-A0A6-306E37A4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81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CB6EF-A42D-49B4-BB8D-A9A3B21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33700"/>
            <a:ext cx="1962150" cy="21907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73D2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24304-771A-493A-8115-B7E5C25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687C7-F2D1-4681-AF8E-C3E25100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58C0D-1B04-4432-957A-B84D340E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예약·문의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BB542-CD6D-471D-B99F-912D511E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coaching_submit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class_inquiry_submit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88D4B-D2D5-4E76-93C6-A0CD86C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96B0A-81AC-45B7-88A8-44A7A00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1962150" cy="21907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F78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BEEAC-6B80-4473-BC61-56AF1712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A30DA-0FF4-44E9-88F1-D00484C4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REVENUE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69243-5F2D-45C7-A019-27441C2E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외부 결제 클릭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7B931-0CB2-414E-B124-8C76581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00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checkout_click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447BA-5A9F-4418-BBD1-3348F759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801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ADFEA5-0DCB-4D03-BFE1-B4798894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34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 기본값  ·  고유 title·description·H1·canonical·OG  ·  Search Console·Naver·GA4 이벤트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6B82F-D654-49C9-B7FE-B9DEFEFC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CFD30F-8DAE-4F3A-8127-FF7DAEE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MEASUREMENT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B0CAF6-68CD-4329-9197-D90E8910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8367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dd3660b2840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6295C-8875-4949-9ABF-E797BAA5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E">
              <a:alpha val="86000"/>
            </a:srgbClr>
          </a:solidFill>
          <a:ln xmlns:a="http://schemas.openxmlformats.org/drawingml/2006/main" w="9525">
            <a:solidFill>
              <a:srgbClr val="F7FCFE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291F-E4F6-4D89-B855-12B0954B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DECISIONS &amp;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60D02-4F93-442B-9996-B22A3CCB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defRPr>
            </a:pPr>
            <a:r>
              <a:rPr sz="3000" b="1">
                <a:solidFill>
                  <a:srgbClr val="061A33"/>
                </a:solidFill>
                <a:latin typeface="KoPubBatang Light"/>
                <a:ea typeface="KoPubBatang Light"/>
                <a:cs typeface="KoPubBatang Light"/>
              </a:rPr>
              <a:t>세 가지 결정이 내려지면 구현을 시작할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FA598-2CED-4B20-9EB6-533F2FE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5626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D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3F089-BCEC-440F-A8AE-15A4EEBC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78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DADF8-6BFD-4003-BECA-B77A85E4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1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주 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FBAE7-CF84-4E89-B35B-284CCF7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‘20분 무료 발음 체크’를 확정할 것인가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AD817-F58C-4B8E-892E-0C4F4D0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5626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AF21A-2080-4AF2-9756-4B5ECA4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C42C4-A9F7-46BB-95CA-A0EFF73A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38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외부 도구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4BA7E-C917-4D89-A5D6-FBA46C0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예약·폼과 결제 플랫폼은 무엇인가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C6461-9956-47BD-B079-6D98EEDC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626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BF7C8-7D9D-4AA1-A3E2-D629EC8D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D9D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A0F79-4C79-4FEA-924B-C14561A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시장 초점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922F-B9A5-45F4-B1AF-48F76AFF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00550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온라인 우선인가, 충청권 지역 우선인가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C6495-A4C0-49BF-8EFE-60B0404C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구현 순서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543AD-8D38-4302-BA5C-3952E63A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0205B-3F1A-4BB5-BF31-8124DB58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526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9023F-E6F6-4DFF-B7B7-4B09365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기반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1245A-4533-411F-84B7-49CD09B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라우팅·공통 레이아웃·측정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49F0F-3136-4778-B84E-799466F5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D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CCDC9-7CD0-449A-B108-673BEE13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24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82AC4-4F01-43A3-99BF-3DD6B6B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337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E3CE9-F2F0-401C-9805-7018D8A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1467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코칭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77DB4-B51A-4CC1-904E-8CE0C75C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상세·신청·완료·정책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AAA4B-18B9-49FC-B597-C56161C5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D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77EB5-912B-4D94-A3A8-B9B589C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D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717036-60F0-41F6-8A1C-A0C1415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147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EBA05-0962-4D3B-BE6C-CA23C38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957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판매·상담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5C221C-E722-493E-B55D-FCAEFFA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키트·수업·외부 도구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A9806-7D34-4745-82ED-E31C861D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D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584A9-C9DA-43CD-BFDA-DFCE848B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86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D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A9DD6-F633-49FA-A85E-05F82C7D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958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FA81CC-5BAF-46CE-A3C9-775E6DFF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2B4E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B75B44-E3C1-4BBC-8BBB-CE994C93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677F"/>
                </a:solidFill>
                <a:latin typeface="Pretendard"/>
                <a:ea typeface="Pretendard"/>
                <a:cs typeface="Pretendard"/>
              </a:rPr>
              <a:t>준비된 콘텐츠·앱부터 공개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1429D-A002-441F-936B-9F6B086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95950"/>
            <a:ext cx="432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C39438-3B10-4F99-BFC1-8D5C5492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1977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MVP 범위 승인 → 상세 와이어프레임 → 구현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F1AEA-70E9-4210-9A43-05EFA0AB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8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82619D-B563-4404-98C4-9B0706D2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7A8DA4"/>
                </a:solidFill>
                <a:latin typeface="Pretendard"/>
                <a:ea typeface="Pretendard"/>
                <a:cs typeface="Pretendard"/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F91377-38D8-4689-959B-8A25485E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356BAE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6752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2026-07-13T14:59:09.2690000Z</dcterms:created>
  <dcterms:modified xsi:type="dcterms:W3CDTF">2026-07-13T14:59:09.2690000Z</dcterms:modified>
</coreProperties>
</file>